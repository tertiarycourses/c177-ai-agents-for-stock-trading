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Agents for Stock Trading (C177)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C177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v1.1  ·  4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Course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Applied AI, quantitative research, and automation practitioner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bounded AI agents, market-data validation, strategy research, backtesting, risk controls, and paper trading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 and one trading-research task that you would like an AI agent to help with.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trading decision or action you would never allow an AI model to perform without human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source of evidence you would require before trusting a trading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Sign in at the LMS-TMS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this course from your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 to the Courseware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Download the Slides (PPT/PDF), Learner Guide and Lesson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them open alongside the labs as you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Portal:  https://lms-tms.tertiaryinfotech.com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Day, 8 Scheduled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Timing &amp;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From Evidence-Led Research to a Controlled Paper Trade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From Trading Idea to Quality Market Data (Labs 1–2)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The Six-Step Trading Workflow and Staying in Control (Labs 3–4)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 am - 6:00 pm (1-hour lunch; two 15-minute tea breaks)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Learning arc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Concept → guided build → verify → discuss → recap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Connected practice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Four labs build one bounded Northstar SPY research pack from hypothesis to controlled paper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Bounded Agent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how a bounded AI trading agent combines a model, instructions, tools, state, evidence, guardrails, and human control without becoming an autonomous money manager.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Testable Hypothesis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Research a trading idea with an AI agent and convert it into a structured, falsifiable hypothesis with explicit rules, assumptions, evidence, and rejection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Quality Market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Connect the agent workflow to an authorised market-data source and validate coverage, timestamps, corporate-action adjustments, completeness, consistency, and freshness before use.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Backtest and Audit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Define deterministic trading rules, run an honest backtest, compare a benchmark, and audit data leakage, friction assumptions, overfitting, and out-of-sample behaviour.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Risk-Sized Ticket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Calculate a bounded position size from account risk and stop distance, then prepare an auditable paper-order ticket with pre-trade limits and human approval evidence.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Controlled Paper Trade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 and verify a paper-only trade through a controlled agent workflow while applying verify-then-trust checkpoints, logs, stop conditions, and rollback procedures.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Evidence-Led Trading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Research, not prediction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agent turns an idea into testable evidence; it does not promise a market outcome.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Tools, not hidden arithmetic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Typed Python tools fetch, validate, backtest, size, and submit only within code-enforced bounds.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Paper, not live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order path is hard-wired to simulation and remains behind an explicit human gate.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Artifacts, not chat memory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Versioned JSON, CSV, Markdown, plots, fingerprints, and receipts form the audit trail.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Six-Step Verify-Then-Trust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Freeze the HYPER hypothesis and deterministic rules.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Accept only fit-for-purpose market data with recorded lineage.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Backtest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causal timing, visible frictions, a benchmark, and a holdout.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leakage, trials, stability, limitations, and decision criteria.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Size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Compute quantity from human-set risk and exposure limits.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Paper trade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Approve, submit to simulation, reconcile, verify, and roll back.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confident answer is not trading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Trust only the parts you can trace to a source, deterministic calculation, recorded decision, or verified paper receipt.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You'll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Research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Structured HYPER hypothesis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Cited research log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Schema and version checks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Evidence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Market-data contract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Quality report and fingerprint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Backtest, trades, chart, and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Paper-Trade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Bounded risk calculation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Dry-run ticket and approval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Paper receipt and rollback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Progresses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Start from a verified checkpoint.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agent only within its evidence boundary.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deterministic checks before interpretation.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Save an observable artifact and fingerprint.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Stop, resolve, or continue through a named gate.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Trading Idea to Quality Market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AI trading agents | research evidence | structured hypotheses | market-data connections | data-quality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From Trading Idea to Quality Market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Bounded agency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may research and recommend, but deterministic tools calculate, controls constrain, and a person owns consequential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Falsifiable hypothesis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useful idea states the asset, data, signal, entry, exit, horizon, benchmark, costs, risks, and rejection rule before testing.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chain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material claim links to a source, timestamp, tool result, assumption, or named owner instead of model confidence.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Market-data contract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workflow records provider, feed, symbol, timezone, session, adjustment, interval, coverage, and intended use.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 gates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Schema, chronology, uniqueness, completeness, OHLC consistency, volume, freshness, and corporate actions are checked before analysis.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agent stops when evidence is missing, conflicts remain, data quality is weak, or an action exceeds paper-only authority.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01 - CHOOSE THE RIGHT CONTROL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Chatbot, Workflow, Agent, or Autopilot?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Bounded research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Unsafe autopilot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Chat explains; workflow follows fixed rules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Agent chooses among narrow read-only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Code calculates and validates deterministically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person approves any paper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Model invents or changes trading rules mid-run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fluent answer is treated as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Keys or live-order endpoints are exposed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stop condition, audit trail, or owner exists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AGENT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Seven Building Blocks of a Bounded Trading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Turn one idea into a traceable research pack, not a buy or sell promise.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Interprets questions, plans tool use, and drafts explanations; it is not the numeric authority.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Instructions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evidence, output schema, paper-only boundary, stop rules, and escalation.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market data, validate it, run a backtest, size risk, and prepare or submit a paper ticket.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AGENT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Seven Building Blocks of a Bounded Trading Agent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Versioned JSON, CSV, and logs carry verified facts between labs.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Guardrails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Allowlisted symbols, bounded dates, quantity caps, paper endpoint, dry run, and approval phrase.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owner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Reviews exceptions, approves the paper ticket, and decides whether research continues.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OBSERVE BEFORE YOU CONTINUE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Research Agent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Receive a bounded research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Plan the next evidence 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Call one approved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the observation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Verify, stop, or continue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01 - MAKE THE CLAIM TESTABLE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Trading Idea Is Not Yet a Hypothesis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Vague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Structured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Buy when momentum looks strong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a good stock and recent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Exit when conditions change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strategy should beat the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SPY daily adjusted bars, fixed date range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20-day SMA crosses above 50-day SMA after close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Long next session; exit on opposite cross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Compare with buy-and-hold after stated frictions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ONE CONTRACT FOR AGENT AND HUMAN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HYPER Hypothesis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 - Hypothesis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falsifiable sentence and the market rationale it is intended to test.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 - Yardstick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Benchmark, metrics, minimum sample, and rejection criteria defined in advance.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 - Parameters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Asset, interval, lookbacks, entry, exit, position state, and date range.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 -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 URLs, market-data contract, assumptions, and OWNER_TO_VERIFY items.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 - Risks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Look-ahead, overfitting, costs, liquidity, regime change, model error, and operational failure.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01 - SOURCE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Research Evidence: Stronger and Weaker 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Stronger evidence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Weaker evidence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Exchange, regulator, provider, or official SDK documentation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Direct dataset metadata and timestamped tool output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Independent source used to cross-check a material claim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Citation, access date, scope, and limitation recorded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Uncited model memory or confident prose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Screenshot with no source, time, or feed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Promotional performance claim treated as proof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Later edits that overwrite the original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STRUCTURED BEFORE FLUENT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 Agent Output Needs a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Claim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is being proposed, in one falsifiable sentence.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Known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Source-backed facts and exact tool observations.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Assumptions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Choices that shape the result but are not measured facts.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Unknowns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Missing or conflicting items labelled OWNER_TO_VERIFY.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 tool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single approved action needed to reduce uncertainty.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Stop reason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Why the run cannot safely continue, when applicable.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MARKET DATA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a Daily OHLCV Bar Represents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Timestamp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labelled interval and timezone; it must match the intended trading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First eligible trade price represented by the bar's aggregation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High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Highest represented trade price; it should not be below open or close.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Lowest represented trade price; it should not be above open or close.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Final represented trade price; adjusted and raw closes answer different questions.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Volume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Aggregated eligible share volume; feed coverage affects the observed value.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01 - IEX AND CONSOLIDATED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Feed Coverage Changes What You Observe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Single-exchange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Consolidated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Lower-cost access and useful for initial app testing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Only trades and quotes from the named venue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Volume and intraday prices may differ from the wider market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Scope must be recorded in the data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Combines eligible activity across US exchanges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Broader price, quote, and volume representation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May require a paid entitlement or provider plan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Still requires timezone, session, and adjustment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01 - PREVENT ACCIDENTAL FUTURE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Time, Session, and Signal Availability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Known at decision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Known only 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Completed bars with unambiguous timezone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Signal computed after the bar closes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Order scheduled for the next eligible session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Calendar and session assumptions recorded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Current bar's final close before it occurs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Next session open used to decide today's signal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Revised data silently substituted after the run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Mixed local, exchange, and UTC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KEEP THE SERIES ECONOMICALLY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Corporate Actions and Adjusted Prices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Split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count and quoted price change mechanically; an unadjusted series can show a false crash.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Dividend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Cash distribution affects total return even when the price series alone does not show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Adjustment mode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Raw, split-adjusted, or fully adjusted data must be named in the contract.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Benchmark consistency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Strategy and benchmark must use comparable return and adjustment assumptions.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Point-in-time concern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symbol mappings and revised histories can leak later knowledge into old dates.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provider metadata and a known event before accepting the series.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RECORD LINEAGE BEFORE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Market-Data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Provider and endpoint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supplied the data and which documented route returned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Feed and entitlement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IEX, SIP, delayed, or another feed plus the account's access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Instrument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Symbol, asset type, venue context, and currency.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 definition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Interval, start, end, timezone, session, and as-of date.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Transformations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Adjustment, filtering, resampling, missing-value handling, and version.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Intended 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Educational daily-bar research, not a live executable-price guarantee.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STOP EARLY WHEN THE INPUT IS WEAK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Eight Data-Quality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Schema and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Ordered unique timestamps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Coverage and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OHLCV consistency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Freshness and provenance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FROM CLAIM TO VERIFIED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Worked Example: Freeze the SPY Research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HYPER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resolves unknowns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Fetch SPY daily bars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 eight quality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Freeze files and fingerprints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From Trading Idea to Quality Market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Research an Idea and Freeze a Testable Hypothesis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Fetch Market Data and Prove It Is Fit for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Research an Idea and Freeze a Testable Hypothesis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Start the connected SPY research scenario by running an OpenAI Agents SDK research agent with read-only course-source tools and structured output. Separate evidence, assumptions, and unknowns; resolve the required human-owned fields; validate the schema; then freeze version 1.0 with fingerprints before any market data is fetched.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100584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C177-trading-agent-pack/01-hypothesis/ containing hypothesis_spec.json, research_log.md, agent_run_manifest.json, validation_report.json, and fingerprints.json for the frozen SPY 20/50-day moving-average 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00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Resources:  </a:t>
            </a:r>
            <a:r>
              <a:rPr sz="1400" b="0">
                <a:solidFill>
                  <a:srgbClr val="5B6372"/>
                </a:solidFill>
                <a:latin typeface="Arial"/>
              </a:rPr>
              <a:t>Use the matching lab's prerequisites and supplied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· PRACTICE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Key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the scenario and approved evidence boundary.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 the research agent with structured HYPER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Resolve unknowns and validate every required field.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Freeze version 1.0 and record fingerprints.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Show a frozen hypothesis with zero unresolved fields, an evidence log, and matching file fingerprints.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Fetch Market Data and Prove It Is Fit for Purpose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 the frozen hypothesis, connect to Alpaca's historical stock-data client, fetch the declared SPY daily bars, and produce a source contract, CSV, quality report, and fingerprint. Then give the research agent read-only access to the structured quality report so it can recommend READY_FOR_BACKTEST or HOLD_DATA without changing any numeric observation.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100584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C177-trading-agent-pack/02-market-data/ containing spy_daily.csv, market_data_contract.json, data_quality_report.json, data_agent_review.json, retrieval_manifest.json, and fingerprints.json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00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Resources:  </a:t>
            </a:r>
            <a:r>
              <a:rPr sz="1400" b="0">
                <a:solidFill>
                  <a:srgbClr val="5B6372"/>
                </a:solidFill>
                <a:latin typeface="Arial"/>
              </a:rPr>
              <a:t>Use the matching lab's prerequisites and supplied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· PRACTICE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Key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the frozen hypothesis and paper-only credential boundary.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Fetch SPY bars under an explicit provider and feed contract.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 deterministic schema, chronology, OHLCV, coverage, and freshness gates.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the agent's review with the controlling quality report.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Show READY_FOR_BACKTEST in the deterministic report, a matching CSV fingerprint, and an agent review that cites the same evidence.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From Trading Idea to Quality Market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LO1 and LO2: operate a bounded tool-using research agent and convert one trading idea into a cited, structured, falsifiable HYPER hypothesis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59936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LO3: connect the workflow to authorised Alpaca market data, record the data contract, run deterministic quality gates, and let the agent interpret only the verified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The Six-Step Trading Workflow and Staying in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rule specification | honest backtesting | audit checks | risk sizing | paper orders | verify-then-trust checkpoints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The Six-Step Trading Workflow and Staying in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Rules before results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Entry, exit, timing, sizing, costs, benchmark, and rejection criteria are frozen before the engine runs.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Deterministic core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Code owns calculations and enforcement; the model interprets, organises evidence, and explains uncertainty.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Backtest realism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Signals are shifted, data is split, and fees, spread, slippage, fills, and benchmark assumptions are visible.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budget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Quantity follows a capped account-risk budget and stop distance, never a model's confidence score.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Paper-only execution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supplied client uses the paper endpoint, a symbol allowlist, dry run, quantity cap, and explicit approval token.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 then trust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stage produces checks, logs, fingerprints, a decision, and a safe rejoin point.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THE COURSE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Six-Step Controlled Trading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 Define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 Acquire and validate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 Backtest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 Size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6 Paper trade and verify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FREEZE BEFORE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Rule Specification: Remove Every Hidden 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Universe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named asset or a point-in-time selection rule.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Signal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formula, lookback, bar interval, and data field.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When the signal becomes known and when the order is assumed to execute.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Entry and exit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Conditions, position state, and conflict resolution.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FREEZE BEFORE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Rule Specification: Remove Every Hidden Choice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Sizing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Fixed rule independent of model enthusiasm.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Friction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Fees, spread or slippage, and fill assumptions.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Benchmark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comparable alternative such as buy-and-hold.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Predeclared evidence for CONTINUE, HOLD, or REVISE.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02 - USE ONLY INFORMATION AVAILABLE THEN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Look-Ahead Bias: The One-Bar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Biased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Causal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Today's close creates today's signal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Today's signal receives today's close-to-close return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Final high or low is used before the bar completes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Future revisions influence an earlier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Completed bar creates the signal after close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Signal is shifted before the next return is applied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Execution timing is written in the rule contract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Inputs and code versions are fingerprinted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DETERMINISTIC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Backtest Engine: Inputs to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Load frozen spec and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lagged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returns and frictions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Build trades and equity curves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Write metrics, plots, and fingerprints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02 - SEPARATE DESIGN FROM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Development Window and Out-of-Sample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Development 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Out-of-sample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Used to implement and debug the fixed rule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Can reveal obvious data or code errors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Results may influence design choices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Must not be presented as untouched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Held back until the specification is frozen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Used once for a cleaner generalisation check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Compared with benchmark and decision criteria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Poor evidence leads to HOLD, not repeated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MULTIPLE VIEWS OF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 Metrics as a System, Not a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Total return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Growth over the window; it depends strongly on start and end dates.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Annualised return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Compounded rate normalised for time; unstable with short samples.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Volatility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Dispersion of returns, not a complete measure of loss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Sharpe ratio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Excess return per unit of volatility under stated assumptions.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MULTIPLE VIEWS OF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Read Metrics as a System, Not a Score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Maximum drawdown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Largest peak-to-trough decline in the simulated equity curve.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Turnover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often exposure changes; it drives friction sensitivity.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Trade 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tiny sample cannot support a stable hit-rate story.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Benchmark gap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Strategy result minus a comparable passive alternative.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02 - MODEL THE COST OF ACTING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Frictionless Results and More Realistic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Frictionless simplification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Declared reality assumptions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Every order fills immediately at the chosen bar price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spread, fee, slippage, latency, or market impact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Unlimited liquidity at any quantity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Useful only as an upper-bound diagnostic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Turnover incurs stated fee and slippage basis points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Execution timing and price field are explicit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Paper limitations and liquidity are disclosed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Sensitivity cases show how conclusions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WHEN THE STORY FITS THE SAMPLE TOO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Overfitting Red Flags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Many trials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Dozens of unreported variants make the best result look rarer than it 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Tiny sample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Few trades or one market regime cannot support a stable conclusion.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Sharp optimum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one exact parameter works while nearby values collapse.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benchmark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complex strategy may merely reproduce market exposure.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Hidden exclusions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Changing assets or dates after inspection creates selection bias.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Holdout erosion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Repeatedly tuning on the same out-of-sample period destroys its role.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VERIFY THE RESULT BEFORE INTERPRETING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Backtest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Recompute fingerprints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signal timing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benchmark and segments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Stress friction and 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CONTINUE, HOLD, or REVISE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02 - SEPARATE LANGUAGE FROM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Work and Deterministic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AI model may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Code or human must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Summarise sources and organise a hypothesis draft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the next approved read-only tool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 metrics and surface uncertainty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Draft a HOLD or CONTINUE rationale for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Validate schema, timestamps, prices, and fingerprints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Compute signals, returns, costs, and position size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Enforce paper endpoint, allowlist, caps, and dry run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Approve the ticket and own the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CALCULATE BEFORE YOU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Position Size Comes from Risk Budget and Stop Distance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Account equity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paper account value used only for the exercise.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fraction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small predeclared fraction chosen by the human owner, not the agent.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budget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 equity multiplied by risk fraction.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Per-share 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Absolute difference between planned entry and protective stop.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quantity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Floor of risk budget divided by per-share risk.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Exposure cap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second ceiling based on maximum position value and available buying power.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TRACE EVERY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Position-Size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Paper equity = $100,000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Risk fraction = 0.50%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Entry $500; stop $490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Raw quantity = floor($500 / $10) = 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exposure and course caps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REVIEW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Pre-Trade Paper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Instrument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Allowlisted symbol, asset type, side, and paper environment.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Accepted hypothesis, data, backtest, audit decision, and fingerprints.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Quantity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 calculation, exposure cap, buying-power check, and hard maximum.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Order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Type, time in force, reference price, and paper endpoint.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live route, no secret in logs, no unsupported symbol, no blank approval.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Reviewer, approval time, approval token, and reason for the exercise.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02 - SIMULATION IS NOT LIVE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Paper Trading Is Useful and Incomplete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paper trading exercises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What it may not reproduce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Authentication, request schema, account checks, and order lifecycle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Real-time data handling and software error paths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Logging, approval, idempotency, and receipt verification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Operational rehearsal without risking capital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Market impact, information leakage, or latency slippage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Queue position and realistic available liquidity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All fees, dividends, price improvement, or live behaviour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Future profitability or suitability for real 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CONTROL THE CONSEQUENTIAL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 Gate and Safe Submission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Generate dry-run 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evidence and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enters exact approval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Submit to paper endpoint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receipt or stop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EVIDENCE AT EVERY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Verify-Then-Trust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Hypothesis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Schema valid, assumptions separated, unknowns owned, version frozen.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Contract complete, quality checks recorded, fingerprint accepted.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Backtest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Timing causal, benchmark present, segments and frictions reported.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Leakage, trials, stability, limitations, and decision documented.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Quantity recomputed from approved inputs and bounded by caps.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Execution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Paper endpoint, human approval, unique ID, receipt, and reconciliation.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OPERATE FOR THE ERROR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Failure, Pause, Reconcile, and Roll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failure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 the error; do not fabricate a result or continue from stale 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drift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Freeze the new dataset separately and rerun quality and backtest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Duplicate 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Query the client order ID before retrying a timed-out request.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Unexpected fill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the workflow, inspect the paper account, and preserve the receipt.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Rerun stable prompts and tool-choice checks before accepting explanations.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Rollback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Cancel open paper orders, disable submission, and restore the last verified version.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Hands-On Labs — The Six-Step Trading Workflow and Staying in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Backtest the Rules and Audit the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Size Risk, Approve, and Verify a Paper Trade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Backtest the Rules and Audit the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Verify the accepted hypothesis and market-data fingerprints, run the fixed 20/50-day crossover engine with a one-bar signal shift and declared frictions, then inspect trades, development and out-of-sample metrics, benchmark results, drawdown, and sensitivity checks. The agent receives only read-only report tools and drafts a review that the human auditor must reconcile with deterministic checks.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100584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C177-trading-agent-pack/03-backtest-audit/ containing strategy_spec.json, signal_sample.csv, trades.csv, equity_curve.csv, equity_curve.png, backtest_metrics.json, sensitivity_report.json, audit_log.md, backtest_agent_review.json, run_manifest.json, and fingerprints.json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00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Resources:  </a:t>
            </a:r>
            <a:r>
              <a:rPr sz="1400" b="0">
                <a:solidFill>
                  <a:srgbClr val="5B6372"/>
                </a:solidFill>
                <a:latin typeface="Arial"/>
              </a:rPr>
              <a:t>Use the matching lab's prerequisites and supplied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· PRACTICE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Key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frozen inputs and run the deterministic causal engine.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signal timing, trades, segments, benchmark, and drawdown.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Stress friction and nearby parameters without choosing a new winner.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Reconcile deterministic, agent, and human audit decisions.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Show causal timing evidence, an out-of-sample benchmark comparison, visible sensitivity cases, and a signed research decision.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Size Risk, Approve, and Verify a Paper Trade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the accepted research evidence to calculate quantity from a human-set paper risk budget, stop distance, exposure ceiling, buying power, and hard course cap. Generate a dry-run ticket, let the agent perform a read-only evidence review, obtain explicit human approval, submit through an Alpaca TradingClient constructed with paper=True, reconcile the receipt, and close with a secret-free final manifest.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100584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C177-trading-agent-pack/04-paper-trade/ containing risk_calculation.json, paper_order_ticket.json, ticket_agent_review.json, human_approval.md, submission_attempt.json, a paper receipt or structured error, reconciliation_log.md, rollback_record.md, final_manifest.json, and fingerprints.json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00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Resources:  </a:t>
            </a:r>
            <a:r>
              <a:rPr sz="1400" b="0">
                <a:solidFill>
                  <a:srgbClr val="5B6372"/>
                </a:solidFill>
                <a:latin typeface="Arial"/>
              </a:rPr>
              <a:t>Use the matching lab's prerequisites and supplied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· PRACTICE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Key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Generate a bounded quantity and dry-run paper ticket.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Recompute the active cap and complete human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Submit once to the hard-wired paper client with a unique ID.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Verify, reconcile, roll back, scan secrets, and freeze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Show a bounded calculation, human-approved PAPER ticket, reconciled paper receipt, rollback state, secret-free manifest, and verified fingerprints.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The Six-Step Trading Workflow and Staying in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LO4: run a causal deterministic backtest, compare a benchmark and holdout, stress stated assumptions, and record an auditable research 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59936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LO5 and LO6: calculate a bounded quantity, generate and review a paper-order ticket, apply the human gate, submit only to simulation, and verify or roll back the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Bounded Agent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how a bounded AI trading agent combines a model, instructions, tools, state, evidence, guardrails, and human control without becoming an autonomous money manager.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Testable Hypothesis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Research a trading idea with an AI agent and convert it into a structured, falsifiable hypothesis with explicit rules, assumptions, evidence, and rejection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Quality Market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Connect the agent workflow to an authorised market-data source and validate coverage, timestamps, corporate-action adjustments, completeness, consistency, and freshness before use.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Backtest and Audit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Define deterministic trading rules, run an honest backtest, compare a benchmark, and audit data leakage, friction assumptions, overfitting, and out-of-sample behaviour.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Risk-Sized Ticket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Calculate a bounded position size from account risk and stop distance, then prepare an auditable paper-order ticket with pre-trade limits and human approval evidence.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Controlled Paper Trade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 and verify a paper-only trade through a controlled agent workflow while applying verify-then-trust checkpoints, logs, stop conditions, and rollback procedures.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Continue with Evidence, Not Automation Pressure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Reproduce the same run before changing the idea.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Version every rule, dataset, prompt, code, and decision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Increase realism and independent review before increasing autonomy.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Keep execution paper-only throughout the course and personal practice.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course material stays available at https://lms-tms.tertiaryinfotech.com/.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KEEP VERIFYING BEFORE YOU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direct a bounded AI agent through a traceable trading research cycle while keeping data, calculation, risk, and execution evidence under human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Stock Trading (C177)  ·  C177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